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Alfa Slab One" pitchFamily="2" charset="77"/>
      <p:regular r:id="rId13"/>
    </p:embeddedFont>
    <p:embeddedFont>
      <p:font typeface="Proxima Nova" panose="02000506030000020004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43" d="100"/>
          <a:sy n="143" d="100"/>
        </p:scale>
        <p:origin x="1304" y="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7956a1cd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7956a1cd5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7956a1cd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7956a1cd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7956a1cd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7956a1cd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7956a1cd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7956a1cd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7956a1cd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7956a1cd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7956a1cd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7956a1cd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7956a1cd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7956a1cd5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7956a1cd5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7956a1cd5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7956a1cd5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7956a1cd5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ame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" sz="4100"/>
              <a:t>Shipping Delay Analysis in Logistics</a:t>
            </a:r>
            <a:endParaRPr sz="4000"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vi" sz="5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Tran Thi Cam Tien</a:t>
            </a:r>
            <a:endParaRPr sz="5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vi" sz="5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Course: Data Analyst Graduation Project</a:t>
            </a:r>
            <a:endParaRPr sz="5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vi" sz="5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Dataset: DataCo Supply Chain</a:t>
            </a:r>
            <a:endParaRPr sz="5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t>Vấn đề:</a:t>
            </a: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678095" y="1132206"/>
            <a:ext cx="7440810" cy="20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2000" dirty="0"/>
              <a:t>Giao </a:t>
            </a:r>
            <a:r>
              <a:rPr sz="2000" dirty="0" err="1"/>
              <a:t>hàng</a:t>
            </a:r>
            <a:r>
              <a:rPr sz="2000" dirty="0"/>
              <a:t> </a:t>
            </a:r>
            <a:r>
              <a:rPr sz="2000" dirty="0" err="1"/>
              <a:t>đúng</a:t>
            </a:r>
            <a:r>
              <a:rPr sz="2000" dirty="0"/>
              <a:t> </a:t>
            </a:r>
            <a:r>
              <a:rPr sz="2000" dirty="0" err="1"/>
              <a:t>hạn</a:t>
            </a:r>
            <a:r>
              <a:rPr sz="2000" dirty="0"/>
              <a:t> </a:t>
            </a:r>
            <a:r>
              <a:rPr sz="2000" dirty="0" err="1"/>
              <a:t>rất</a:t>
            </a:r>
            <a:r>
              <a:rPr sz="2000" dirty="0"/>
              <a:t> </a:t>
            </a:r>
            <a:r>
              <a:rPr sz="2000" dirty="0" err="1"/>
              <a:t>quan</a:t>
            </a:r>
            <a:r>
              <a:rPr sz="2000" dirty="0"/>
              <a:t> </a:t>
            </a:r>
            <a:r>
              <a:rPr sz="2000" dirty="0" err="1"/>
              <a:t>trọng</a:t>
            </a:r>
            <a:endParaRPr sz="2000" dirty="0"/>
          </a:p>
          <a:p>
            <a:r>
              <a:rPr sz="2000" dirty="0"/>
              <a:t>Giao </a:t>
            </a:r>
            <a:r>
              <a:rPr sz="2000" dirty="0" err="1"/>
              <a:t>hàng</a:t>
            </a:r>
            <a:r>
              <a:rPr sz="2000" dirty="0"/>
              <a:t> </a:t>
            </a:r>
            <a:r>
              <a:rPr sz="2000" dirty="0" err="1"/>
              <a:t>trễ</a:t>
            </a:r>
            <a:r>
              <a:rPr sz="2000" dirty="0"/>
              <a:t> </a:t>
            </a:r>
            <a:r>
              <a:rPr sz="2000" dirty="0" err="1"/>
              <a:t>gây</a:t>
            </a:r>
            <a:r>
              <a:rPr sz="2000" dirty="0"/>
              <a:t> </a:t>
            </a:r>
            <a:r>
              <a:rPr sz="2000" dirty="0" err="1"/>
              <a:t>ra</a:t>
            </a:r>
            <a:r>
              <a:rPr sz="2000" dirty="0"/>
              <a:t>:</a:t>
            </a:r>
          </a:p>
          <a:p>
            <a:pPr lvl="1"/>
            <a:r>
              <a:rPr sz="1600" dirty="0" err="1"/>
              <a:t>Khách</a:t>
            </a:r>
            <a:r>
              <a:rPr sz="1600" dirty="0"/>
              <a:t> </a:t>
            </a:r>
            <a:r>
              <a:rPr sz="1600" dirty="0" err="1"/>
              <a:t>hàng</a:t>
            </a:r>
            <a:r>
              <a:rPr sz="1600" dirty="0"/>
              <a:t> </a:t>
            </a:r>
            <a:r>
              <a:rPr sz="1600" dirty="0" err="1"/>
              <a:t>không</a:t>
            </a:r>
            <a:r>
              <a:rPr sz="1600" dirty="0"/>
              <a:t> </a:t>
            </a:r>
            <a:r>
              <a:rPr sz="1600" dirty="0" err="1"/>
              <a:t>hài</a:t>
            </a:r>
            <a:r>
              <a:rPr sz="1600" dirty="0"/>
              <a:t> </a:t>
            </a:r>
            <a:r>
              <a:rPr sz="1600" dirty="0" err="1"/>
              <a:t>lòng</a:t>
            </a:r>
            <a:endParaRPr sz="1600" dirty="0"/>
          </a:p>
          <a:p>
            <a:pPr lvl="1"/>
            <a:r>
              <a:rPr sz="1600" dirty="0" err="1"/>
              <a:t>Tăng</a:t>
            </a:r>
            <a:r>
              <a:rPr sz="1600" dirty="0"/>
              <a:t> chi </a:t>
            </a:r>
            <a:r>
              <a:rPr sz="1600" dirty="0" err="1"/>
              <a:t>phí</a:t>
            </a:r>
            <a:r>
              <a:rPr sz="1600" dirty="0"/>
              <a:t> </a:t>
            </a:r>
            <a:r>
              <a:rPr sz="1600" dirty="0" err="1"/>
              <a:t>vận</a:t>
            </a:r>
            <a:r>
              <a:rPr sz="1600" dirty="0"/>
              <a:t> </a:t>
            </a:r>
            <a:r>
              <a:rPr sz="1600" dirty="0" err="1"/>
              <a:t>hành</a:t>
            </a:r>
            <a:endParaRPr sz="1600" dirty="0"/>
          </a:p>
          <a:p>
            <a:pPr lvl="1"/>
            <a:r>
              <a:rPr sz="1600" dirty="0" err="1"/>
              <a:t>Giảm</a:t>
            </a:r>
            <a:r>
              <a:rPr sz="1600" dirty="0"/>
              <a:t> </a:t>
            </a:r>
            <a:r>
              <a:rPr sz="1600" dirty="0" err="1"/>
              <a:t>hiệu</a:t>
            </a:r>
            <a:r>
              <a:rPr sz="1600" dirty="0"/>
              <a:t> </a:t>
            </a:r>
            <a:r>
              <a:rPr sz="1600" dirty="0" err="1"/>
              <a:t>quả</a:t>
            </a:r>
            <a:r>
              <a:rPr sz="1600" dirty="0"/>
              <a:t> logistics</a:t>
            </a:r>
          </a:p>
          <a:p>
            <a:endParaRPr sz="2000" dirty="0"/>
          </a:p>
          <a:p>
            <a:pPr>
              <a:buFont typeface="Wingdings" pitchFamily="2" charset="2"/>
              <a:buChar char="Ø"/>
            </a:pPr>
            <a:r>
              <a:rPr sz="2000" dirty="0" err="1"/>
              <a:t>Tỷ</a:t>
            </a:r>
            <a:r>
              <a:rPr sz="2000" dirty="0"/>
              <a:t> </a:t>
            </a:r>
            <a:r>
              <a:rPr sz="2000" dirty="0" err="1"/>
              <a:t>lệ</a:t>
            </a:r>
            <a:r>
              <a:rPr sz="2000" dirty="0"/>
              <a:t> </a:t>
            </a:r>
            <a:r>
              <a:rPr sz="2000" dirty="0" err="1"/>
              <a:t>giao</a:t>
            </a:r>
            <a:r>
              <a:rPr sz="2000" dirty="0"/>
              <a:t> </a:t>
            </a:r>
            <a:r>
              <a:rPr sz="2000" dirty="0" err="1"/>
              <a:t>trễ</a:t>
            </a:r>
            <a:r>
              <a:rPr sz="2000" dirty="0"/>
              <a:t> </a:t>
            </a:r>
            <a:r>
              <a:rPr sz="2000" dirty="0" err="1"/>
              <a:t>cao</a:t>
            </a:r>
            <a:r>
              <a:rPr sz="2000" dirty="0"/>
              <a:t> </a:t>
            </a:r>
            <a:r>
              <a:rPr sz="2000" dirty="0" err="1"/>
              <a:t>cho</a:t>
            </a:r>
            <a:r>
              <a:rPr sz="2000" dirty="0"/>
              <a:t> </a:t>
            </a:r>
            <a:r>
              <a:rPr sz="2000" dirty="0" err="1"/>
              <a:t>thấy</a:t>
            </a:r>
            <a:r>
              <a:rPr sz="2000" dirty="0"/>
              <a:t> </a:t>
            </a:r>
            <a:r>
              <a:rPr sz="2000" dirty="0" err="1"/>
              <a:t>đây</a:t>
            </a:r>
            <a:r>
              <a:rPr sz="2000" dirty="0"/>
              <a:t> </a:t>
            </a:r>
            <a:r>
              <a:rPr sz="2000" dirty="0" err="1"/>
              <a:t>là</a:t>
            </a:r>
            <a:r>
              <a:rPr sz="2000" dirty="0"/>
              <a:t> </a:t>
            </a:r>
            <a:r>
              <a:rPr sz="2000" dirty="0" err="1"/>
              <a:t>vấn</a:t>
            </a:r>
            <a:r>
              <a:rPr sz="2000" dirty="0"/>
              <a:t> </a:t>
            </a:r>
            <a:r>
              <a:rPr sz="2000" dirty="0" err="1"/>
              <a:t>đề</a:t>
            </a:r>
            <a:r>
              <a:rPr sz="2000" dirty="0"/>
              <a:t> </a:t>
            </a:r>
            <a:r>
              <a:rPr sz="2000" dirty="0" err="1"/>
              <a:t>mang</a:t>
            </a:r>
            <a:r>
              <a:rPr sz="2000" dirty="0"/>
              <a:t> </a:t>
            </a:r>
            <a:r>
              <a:rPr sz="2000" dirty="0" err="1"/>
              <a:t>tính</a:t>
            </a:r>
            <a:r>
              <a:rPr sz="2000" dirty="0"/>
              <a:t> </a:t>
            </a:r>
            <a:r>
              <a:rPr sz="2000" dirty="0" err="1"/>
              <a:t>hệ</a:t>
            </a:r>
            <a:r>
              <a:rPr sz="2000" dirty="0"/>
              <a:t> </a:t>
            </a:r>
            <a:r>
              <a:rPr sz="2000" dirty="0" err="1"/>
              <a:t>thống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2116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: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907546" y="1083511"/>
            <a:ext cx="6138711" cy="22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vi-VN" sz="2000" dirty="0"/>
              <a:t>1. Tính tỷ lệ giao hàng trễ</a:t>
            </a:r>
          </a:p>
          <a:p>
            <a:pPr marL="114300" indent="0">
              <a:buNone/>
            </a:pPr>
            <a:r>
              <a:rPr lang="vi-VN" sz="2000" dirty="0"/>
              <a:t>2. Xác định các yếu tố ảnh hưởng chính:</a:t>
            </a:r>
          </a:p>
          <a:p>
            <a:pPr lvl="1"/>
            <a:r>
              <a:rPr lang="vi-VN" sz="1600" dirty="0"/>
              <a:t>  Shipping mode</a:t>
            </a:r>
          </a:p>
          <a:p>
            <a:pPr lvl="1"/>
            <a:r>
              <a:rPr lang="vi-VN" sz="1600" dirty="0"/>
              <a:t>  Region</a:t>
            </a:r>
          </a:p>
          <a:p>
            <a:pPr lvl="1"/>
            <a:r>
              <a:rPr lang="vi-VN" sz="1600" dirty="0"/>
              <a:t>  Category</a:t>
            </a:r>
          </a:p>
          <a:p>
            <a:pPr marL="114300" indent="0">
              <a:buNone/>
            </a:pPr>
            <a:r>
              <a:rPr lang="vi-VN" sz="2000" dirty="0"/>
              <a:t>3. So sánh thời gian dự kiến và thực tế</a:t>
            </a:r>
          </a:p>
          <a:p>
            <a:pPr marL="114300" indent="0">
              <a:buNone/>
            </a:pPr>
            <a:r>
              <a:rPr lang="vi-VN" sz="2000" dirty="0"/>
              <a:t>4. Đưa ra đề xuất mang tính kinh doanh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/>
              <a:t>Dataset:</a:t>
            </a: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822688" y="1278846"/>
            <a:ext cx="7200724" cy="25858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sz="2000" dirty="0" err="1"/>
              <a:t>Nguồn</a:t>
            </a:r>
            <a:r>
              <a:rPr sz="2000" dirty="0"/>
              <a:t>: Kaggle - </a:t>
            </a:r>
            <a:r>
              <a:rPr sz="2000" dirty="0" err="1"/>
              <a:t>DataCo</a:t>
            </a:r>
            <a:r>
              <a:rPr sz="2000" dirty="0"/>
              <a:t> Supply Chain</a:t>
            </a:r>
          </a:p>
          <a:p>
            <a:r>
              <a:rPr sz="2000" dirty="0" err="1"/>
              <a:t>Khoảng</a:t>
            </a:r>
            <a:r>
              <a:rPr sz="2000" dirty="0"/>
              <a:t> 180,000 </a:t>
            </a:r>
            <a:r>
              <a:rPr sz="2000" dirty="0" err="1"/>
              <a:t>dòng</a:t>
            </a:r>
            <a:r>
              <a:rPr sz="2000" dirty="0"/>
              <a:t> </a:t>
            </a:r>
            <a:r>
              <a:rPr sz="2000" dirty="0" err="1"/>
              <a:t>và</a:t>
            </a:r>
            <a:r>
              <a:rPr sz="2000" dirty="0"/>
              <a:t> </a:t>
            </a:r>
            <a:r>
              <a:rPr sz="2000" dirty="0" err="1"/>
              <a:t>hơn</a:t>
            </a:r>
            <a:r>
              <a:rPr sz="2000" dirty="0"/>
              <a:t> 50 </a:t>
            </a:r>
            <a:r>
              <a:rPr sz="2000" dirty="0" err="1"/>
              <a:t>cột</a:t>
            </a:r>
            <a:endParaRPr sz="2000" dirty="0"/>
          </a:p>
          <a:p>
            <a:r>
              <a:rPr sz="2000" dirty="0" err="1"/>
              <a:t>Gồm</a:t>
            </a:r>
            <a:r>
              <a:rPr sz="2000" dirty="0"/>
              <a:t> </a:t>
            </a:r>
            <a:r>
              <a:rPr sz="2000" dirty="0" err="1"/>
              <a:t>dữ</a:t>
            </a:r>
            <a:r>
              <a:rPr sz="2000" dirty="0"/>
              <a:t> </a:t>
            </a:r>
            <a:r>
              <a:rPr sz="2000" dirty="0" err="1"/>
              <a:t>liệu</a:t>
            </a:r>
            <a:r>
              <a:rPr sz="2000" dirty="0"/>
              <a:t> </a:t>
            </a:r>
            <a:r>
              <a:rPr sz="2000" dirty="0" err="1"/>
              <a:t>về</a:t>
            </a:r>
            <a:r>
              <a:rPr sz="2000" dirty="0"/>
              <a:t> </a:t>
            </a:r>
            <a:r>
              <a:rPr sz="2000" dirty="0" err="1"/>
              <a:t>đơn</a:t>
            </a:r>
            <a:r>
              <a:rPr sz="2000" dirty="0"/>
              <a:t> </a:t>
            </a:r>
            <a:r>
              <a:rPr sz="2000" dirty="0" err="1"/>
              <a:t>hàng</a:t>
            </a:r>
            <a:r>
              <a:rPr sz="2000" dirty="0"/>
              <a:t>, </a:t>
            </a:r>
            <a:r>
              <a:rPr sz="2000" dirty="0" err="1"/>
              <a:t>vận</a:t>
            </a:r>
            <a:r>
              <a:rPr sz="2000" dirty="0"/>
              <a:t> </a:t>
            </a:r>
            <a:r>
              <a:rPr sz="2000" dirty="0" err="1"/>
              <a:t>chuyển</a:t>
            </a:r>
            <a:r>
              <a:rPr sz="2000" dirty="0"/>
              <a:t>, </a:t>
            </a:r>
            <a:r>
              <a:rPr sz="2000" dirty="0" err="1"/>
              <a:t>khu</a:t>
            </a:r>
            <a:r>
              <a:rPr sz="2000" dirty="0"/>
              <a:t> </a:t>
            </a:r>
            <a:r>
              <a:rPr sz="2000" dirty="0" err="1"/>
              <a:t>vực</a:t>
            </a:r>
            <a:r>
              <a:rPr lang="vi-VN" sz="2000" dirty="0"/>
              <a:t> </a:t>
            </a:r>
            <a:r>
              <a:rPr sz="2000" dirty="0" err="1"/>
              <a:t>và</a:t>
            </a:r>
            <a:r>
              <a:rPr sz="2000" dirty="0"/>
              <a:t> </a:t>
            </a:r>
            <a:r>
              <a:rPr sz="2000" dirty="0" err="1"/>
              <a:t>hiệu</a:t>
            </a:r>
            <a:r>
              <a:rPr sz="2000" dirty="0"/>
              <a:t> </a:t>
            </a:r>
            <a:r>
              <a:rPr sz="2000" dirty="0" err="1"/>
              <a:t>suất</a:t>
            </a:r>
            <a:r>
              <a:rPr sz="2000" dirty="0"/>
              <a:t> </a:t>
            </a:r>
            <a:r>
              <a:rPr sz="2000" dirty="0" err="1"/>
              <a:t>giao</a:t>
            </a:r>
            <a:r>
              <a:rPr sz="2000" dirty="0"/>
              <a:t> </a:t>
            </a:r>
            <a:r>
              <a:rPr sz="2000" dirty="0" err="1"/>
              <a:t>hàng</a:t>
            </a:r>
            <a:endParaRPr sz="2000" dirty="0"/>
          </a:p>
          <a:p>
            <a:pPr marL="114300" indent="0"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t>Phương pháp:</a:t>
            </a:r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876477" y="1017725"/>
            <a:ext cx="7371052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sz="2000" dirty="0"/>
              <a:t>Data cleaning</a:t>
            </a:r>
          </a:p>
          <a:p>
            <a:r>
              <a:rPr sz="2000" dirty="0" err="1"/>
              <a:t>Xóa</a:t>
            </a:r>
            <a:r>
              <a:rPr sz="2000" dirty="0"/>
              <a:t> </a:t>
            </a:r>
            <a:r>
              <a:rPr sz="2000" dirty="0" err="1"/>
              <a:t>dữ</a:t>
            </a:r>
            <a:r>
              <a:rPr sz="2000" dirty="0"/>
              <a:t> </a:t>
            </a:r>
            <a:r>
              <a:rPr sz="2000" dirty="0" err="1"/>
              <a:t>liệu</a:t>
            </a:r>
            <a:r>
              <a:rPr sz="2000" dirty="0"/>
              <a:t> </a:t>
            </a:r>
            <a:r>
              <a:rPr sz="2000" dirty="0" err="1"/>
              <a:t>trùng</a:t>
            </a:r>
            <a:endParaRPr sz="2000" dirty="0"/>
          </a:p>
          <a:p>
            <a:r>
              <a:rPr sz="2000" dirty="0" err="1"/>
              <a:t>Kiểm</a:t>
            </a:r>
            <a:r>
              <a:rPr sz="2000" dirty="0"/>
              <a:t> </a:t>
            </a:r>
            <a:r>
              <a:rPr sz="2000" dirty="0" err="1"/>
              <a:t>tra</a:t>
            </a:r>
            <a:r>
              <a:rPr sz="2000" dirty="0"/>
              <a:t> </a:t>
            </a:r>
            <a:r>
              <a:rPr sz="2000" dirty="0" err="1"/>
              <a:t>giá</a:t>
            </a:r>
            <a:r>
              <a:rPr sz="2000" dirty="0"/>
              <a:t> </a:t>
            </a:r>
            <a:r>
              <a:rPr sz="2000" dirty="0" err="1"/>
              <a:t>trị</a:t>
            </a:r>
            <a:r>
              <a:rPr sz="2000" dirty="0"/>
              <a:t> </a:t>
            </a:r>
            <a:r>
              <a:rPr sz="2000" dirty="0" err="1"/>
              <a:t>thiếu</a:t>
            </a:r>
            <a:endParaRPr sz="2000" dirty="0"/>
          </a:p>
          <a:p>
            <a:endParaRPr sz="2000" dirty="0"/>
          </a:p>
          <a:p>
            <a:r>
              <a:rPr sz="2000" dirty="0"/>
              <a:t>Feature engineering</a:t>
            </a:r>
          </a:p>
          <a:p>
            <a:pPr lvl="1"/>
            <a:r>
              <a:rPr sz="1600" dirty="0" err="1"/>
              <a:t>shipping_delay</a:t>
            </a:r>
            <a:r>
              <a:rPr sz="1600" dirty="0"/>
              <a:t> = real - scheduled</a:t>
            </a:r>
          </a:p>
          <a:p>
            <a:pPr lvl="1"/>
            <a:r>
              <a:rPr sz="1600" dirty="0" err="1"/>
              <a:t>is_late</a:t>
            </a:r>
            <a:endParaRPr sz="1600" dirty="0"/>
          </a:p>
          <a:p>
            <a:endParaRPr sz="2000" dirty="0"/>
          </a:p>
          <a:p>
            <a:r>
              <a:rPr sz="2000" dirty="0"/>
              <a:t>EDA </a:t>
            </a:r>
            <a:r>
              <a:rPr sz="2000" dirty="0" err="1"/>
              <a:t>và</a:t>
            </a:r>
            <a:r>
              <a:rPr sz="2000" dirty="0"/>
              <a:t> </a:t>
            </a:r>
            <a:r>
              <a:rPr sz="2000" dirty="0" err="1"/>
              <a:t>phân</a:t>
            </a:r>
            <a:r>
              <a:rPr sz="2000" dirty="0"/>
              <a:t> </a:t>
            </a:r>
            <a:r>
              <a:rPr sz="2000" dirty="0" err="1"/>
              <a:t>tích</a:t>
            </a:r>
            <a:r>
              <a:rPr sz="2000" dirty="0"/>
              <a:t> insight </a:t>
            </a:r>
            <a:r>
              <a:rPr sz="2000" dirty="0" err="1"/>
              <a:t>kinh</a:t>
            </a:r>
            <a:r>
              <a:rPr sz="2000" dirty="0"/>
              <a:t> </a:t>
            </a:r>
            <a:r>
              <a:rPr sz="2000" dirty="0" err="1"/>
              <a:t>doanh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t>Tỷ lệ giao trễ cao</a:t>
            </a:r>
          </a:p>
        </p:txBody>
      </p:sp>
      <p:pic>
        <p:nvPicPr>
          <p:cNvPr id="87" name="Google Shape;87;p18" title="Ảnh màn hình 2026-03-18 lúc 12.48.16 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4362" y="911813"/>
            <a:ext cx="4904526" cy="331987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437350" y="1017725"/>
            <a:ext cx="2043600" cy="8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/>
              <a:t>Late delivery rate: ~57%</a:t>
            </a:r>
          </a:p>
          <a:p>
            <a:endParaRPr sz="2000" dirty="0"/>
          </a:p>
          <a:p>
            <a:r>
              <a:rPr sz="2000" dirty="0"/>
              <a:t>→ </a:t>
            </a:r>
            <a:r>
              <a:rPr sz="2000" dirty="0" err="1"/>
              <a:t>Hơn</a:t>
            </a:r>
            <a:r>
              <a:rPr sz="2000" dirty="0"/>
              <a:t> </a:t>
            </a:r>
            <a:r>
              <a:rPr sz="2000" dirty="0" err="1"/>
              <a:t>một</a:t>
            </a:r>
            <a:r>
              <a:rPr sz="2000" dirty="0"/>
              <a:t> </a:t>
            </a:r>
            <a:r>
              <a:rPr sz="2000" dirty="0" err="1"/>
              <a:t>nửa</a:t>
            </a:r>
            <a:r>
              <a:rPr sz="2000" dirty="0"/>
              <a:t> </a:t>
            </a:r>
            <a:r>
              <a:rPr sz="2000" dirty="0" err="1"/>
              <a:t>đơn</a:t>
            </a:r>
            <a:r>
              <a:rPr sz="2000" dirty="0"/>
              <a:t> </a:t>
            </a:r>
            <a:r>
              <a:rPr sz="2000" dirty="0" err="1"/>
              <a:t>hàng</a:t>
            </a:r>
            <a:r>
              <a:rPr sz="2000" dirty="0"/>
              <a:t> </a:t>
            </a:r>
            <a:r>
              <a:rPr sz="2000" dirty="0" err="1"/>
              <a:t>bị</a:t>
            </a:r>
            <a:r>
              <a:rPr sz="2000" dirty="0"/>
              <a:t> </a:t>
            </a:r>
            <a:r>
              <a:rPr sz="2000" dirty="0" err="1"/>
              <a:t>giao</a:t>
            </a:r>
            <a:r>
              <a:rPr sz="2000" dirty="0"/>
              <a:t> </a:t>
            </a:r>
            <a:r>
              <a:rPr sz="2000" dirty="0" err="1"/>
              <a:t>trễ</a:t>
            </a:r>
            <a:r>
              <a:rPr lang="vi-VN" sz="2000" dirty="0"/>
              <a:t>.</a:t>
            </a:r>
            <a:endParaRPr sz="2000" dirty="0"/>
          </a:p>
          <a:p>
            <a:r>
              <a:rPr sz="2000" dirty="0"/>
              <a:t>→ Cho </a:t>
            </a:r>
            <a:r>
              <a:rPr sz="2000" dirty="0" err="1"/>
              <a:t>thấy</a:t>
            </a:r>
            <a:r>
              <a:rPr sz="2000" dirty="0"/>
              <a:t> </a:t>
            </a:r>
            <a:r>
              <a:rPr sz="2000" dirty="0" err="1"/>
              <a:t>hệ</a:t>
            </a:r>
            <a:r>
              <a:rPr sz="2000" dirty="0"/>
              <a:t> </a:t>
            </a:r>
            <a:r>
              <a:rPr sz="2000" dirty="0" err="1"/>
              <a:t>thống</a:t>
            </a:r>
            <a:r>
              <a:rPr sz="2000" dirty="0"/>
              <a:t> </a:t>
            </a:r>
            <a:r>
              <a:rPr sz="2000" dirty="0" err="1"/>
              <a:t>vận</a:t>
            </a:r>
            <a:r>
              <a:rPr sz="2000" dirty="0"/>
              <a:t> </a:t>
            </a:r>
            <a:r>
              <a:rPr sz="2000" dirty="0" err="1"/>
              <a:t>hành</a:t>
            </a:r>
            <a:r>
              <a:rPr sz="2000" dirty="0"/>
              <a:t> </a:t>
            </a:r>
            <a:r>
              <a:rPr sz="2000" dirty="0" err="1"/>
              <a:t>còn</a:t>
            </a:r>
            <a:r>
              <a:rPr sz="2000" dirty="0"/>
              <a:t> </a:t>
            </a:r>
            <a:r>
              <a:rPr sz="2000" dirty="0" err="1"/>
              <a:t>nhiều</a:t>
            </a:r>
            <a:r>
              <a:rPr sz="2000" dirty="0"/>
              <a:t> </a:t>
            </a:r>
            <a:r>
              <a:rPr sz="2000" dirty="0" err="1"/>
              <a:t>điểm</a:t>
            </a:r>
            <a:r>
              <a:rPr sz="2000" dirty="0"/>
              <a:t> </a:t>
            </a:r>
            <a:r>
              <a:rPr sz="2000" dirty="0" err="1"/>
              <a:t>chưa</a:t>
            </a:r>
            <a:r>
              <a:rPr sz="2000" dirty="0"/>
              <a:t> </a:t>
            </a:r>
            <a:r>
              <a:rPr sz="2000" dirty="0" err="1"/>
              <a:t>tối</a:t>
            </a:r>
            <a:r>
              <a:rPr sz="2000" dirty="0"/>
              <a:t> </a:t>
            </a:r>
            <a:r>
              <a:rPr sz="2000" dirty="0" err="1"/>
              <a:t>ưu</a:t>
            </a:r>
            <a:r>
              <a:rPr lang="vi-VN" sz="2000" dirty="0"/>
              <a:t>.</a:t>
            </a:r>
            <a:endParaRPr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t>Ảnh hưởng của shipping mode</a:t>
            </a:r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56245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sz="2000" dirty="0"/>
              <a:t>Second Class </a:t>
            </a:r>
            <a:r>
              <a:rPr sz="2000" dirty="0" err="1"/>
              <a:t>có</a:t>
            </a:r>
            <a:r>
              <a:rPr sz="2000" dirty="0"/>
              <a:t> </a:t>
            </a:r>
            <a:r>
              <a:rPr sz="2000" dirty="0" err="1"/>
              <a:t>tỷ</a:t>
            </a:r>
            <a:r>
              <a:rPr sz="2000" dirty="0"/>
              <a:t> </a:t>
            </a:r>
            <a:r>
              <a:rPr sz="2000" dirty="0" err="1"/>
              <a:t>lệ</a:t>
            </a:r>
            <a:r>
              <a:rPr sz="2000" dirty="0"/>
              <a:t> </a:t>
            </a:r>
            <a:r>
              <a:rPr sz="2000" dirty="0" err="1"/>
              <a:t>giao</a:t>
            </a:r>
            <a:r>
              <a:rPr sz="2000" dirty="0"/>
              <a:t> </a:t>
            </a:r>
            <a:r>
              <a:rPr sz="2000" dirty="0" err="1"/>
              <a:t>trễ</a:t>
            </a:r>
            <a:r>
              <a:rPr sz="2000" dirty="0"/>
              <a:t> </a:t>
            </a:r>
            <a:r>
              <a:rPr sz="2000" dirty="0" err="1"/>
              <a:t>cao</a:t>
            </a:r>
            <a:r>
              <a:rPr sz="2000" dirty="0"/>
              <a:t> </a:t>
            </a:r>
            <a:r>
              <a:rPr sz="2000" dirty="0" err="1"/>
              <a:t>nhất</a:t>
            </a:r>
            <a:endParaRPr sz="2000" dirty="0"/>
          </a:p>
          <a:p>
            <a:r>
              <a:rPr sz="2000" dirty="0"/>
              <a:t>Các </a:t>
            </a:r>
            <a:r>
              <a:rPr sz="2000" dirty="0" err="1"/>
              <a:t>phương</a:t>
            </a:r>
            <a:r>
              <a:rPr sz="2000" dirty="0"/>
              <a:t> </a:t>
            </a:r>
            <a:r>
              <a:rPr sz="2000" dirty="0" err="1"/>
              <a:t>thức</a:t>
            </a:r>
            <a:r>
              <a:rPr sz="2000" dirty="0"/>
              <a:t> </a:t>
            </a:r>
            <a:r>
              <a:rPr sz="2000" dirty="0" err="1"/>
              <a:t>nhanh</a:t>
            </a:r>
            <a:r>
              <a:rPr sz="2000" dirty="0"/>
              <a:t> </a:t>
            </a:r>
            <a:r>
              <a:rPr sz="2000" dirty="0" err="1"/>
              <a:t>thường</a:t>
            </a:r>
            <a:r>
              <a:rPr sz="2000" dirty="0"/>
              <a:t> </a:t>
            </a:r>
            <a:r>
              <a:rPr sz="2000" dirty="0" err="1"/>
              <a:t>ổn</a:t>
            </a:r>
            <a:r>
              <a:rPr sz="2000" dirty="0"/>
              <a:t> </a:t>
            </a:r>
            <a:r>
              <a:rPr sz="2000" dirty="0" err="1"/>
              <a:t>định</a:t>
            </a:r>
            <a:r>
              <a:rPr sz="2000" dirty="0"/>
              <a:t> </a:t>
            </a:r>
            <a:r>
              <a:rPr sz="2000" dirty="0" err="1"/>
              <a:t>hơn</a:t>
            </a:r>
            <a:endParaRPr sz="2000" dirty="0"/>
          </a:p>
          <a:p>
            <a:endParaRPr sz="2000" dirty="0"/>
          </a:p>
          <a:p>
            <a:r>
              <a:rPr sz="2000" dirty="0"/>
              <a:t>Shipping mode </a:t>
            </a:r>
            <a:r>
              <a:rPr sz="2000" dirty="0" err="1"/>
              <a:t>là</a:t>
            </a:r>
            <a:r>
              <a:rPr sz="2000" dirty="0"/>
              <a:t> </a:t>
            </a:r>
            <a:r>
              <a:rPr sz="2000" dirty="0" err="1"/>
              <a:t>một</a:t>
            </a:r>
            <a:r>
              <a:rPr sz="2000" dirty="0"/>
              <a:t> </a:t>
            </a:r>
            <a:r>
              <a:rPr sz="2000" dirty="0" err="1"/>
              <a:t>yếu</a:t>
            </a:r>
            <a:r>
              <a:rPr sz="2000" dirty="0"/>
              <a:t> </a:t>
            </a:r>
            <a:r>
              <a:rPr sz="2000" dirty="0" err="1"/>
              <a:t>tố</a:t>
            </a:r>
            <a:r>
              <a:rPr sz="2000" dirty="0"/>
              <a:t> </a:t>
            </a:r>
            <a:r>
              <a:rPr sz="2000" dirty="0" err="1"/>
              <a:t>ảnh</a:t>
            </a:r>
            <a:r>
              <a:rPr sz="2000" dirty="0"/>
              <a:t> </a:t>
            </a:r>
            <a:r>
              <a:rPr sz="2000" dirty="0" err="1"/>
              <a:t>hưởng</a:t>
            </a:r>
            <a:r>
              <a:rPr sz="2000" dirty="0"/>
              <a:t> </a:t>
            </a:r>
            <a:r>
              <a:rPr sz="2000" dirty="0" err="1"/>
              <a:t>quan</a:t>
            </a:r>
            <a:r>
              <a:rPr sz="2000" dirty="0"/>
              <a:t> </a:t>
            </a:r>
            <a:r>
              <a:rPr sz="2000" dirty="0" err="1"/>
              <a:t>trọng</a:t>
            </a:r>
            <a:r>
              <a:rPr sz="2000" dirty="0"/>
              <a:t> </a:t>
            </a:r>
            <a:r>
              <a:rPr sz="2000" dirty="0" err="1"/>
              <a:t>đến</a:t>
            </a:r>
            <a:r>
              <a:rPr sz="2000" dirty="0"/>
              <a:t> delay</a:t>
            </a:r>
          </a:p>
        </p:txBody>
      </p:sp>
      <p:pic>
        <p:nvPicPr>
          <p:cNvPr id="95" name="Google Shape;95;p19" title="Ảnh màn hình 2026-03-18 lúc 12.51.28 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4150" y="1152475"/>
            <a:ext cx="4072775" cy="355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>
            <a:spLocks noGrp="1"/>
          </p:cNvSpPr>
          <p:nvPr>
            <p:ph type="title"/>
          </p:nvPr>
        </p:nvSpPr>
        <p:spPr>
          <a:xfrm>
            <a:off x="311700" y="24287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 err="1"/>
              <a:t>Khác</a:t>
            </a:r>
            <a:r>
              <a:rPr dirty="0"/>
              <a:t> </a:t>
            </a:r>
            <a:r>
              <a:rPr dirty="0" err="1"/>
              <a:t>biệt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khu</a:t>
            </a:r>
            <a:r>
              <a:rPr dirty="0"/>
              <a:t> </a:t>
            </a:r>
            <a:r>
              <a:rPr dirty="0" err="1"/>
              <a:t>vực</a:t>
            </a:r>
            <a:endParaRPr dirty="0"/>
          </a:p>
        </p:txBody>
      </p:sp>
      <p:sp>
        <p:nvSpPr>
          <p:cNvPr id="101" name="Google Shape;101;p20"/>
          <p:cNvSpPr txBox="1">
            <a:spLocks noGrp="1"/>
          </p:cNvSpPr>
          <p:nvPr>
            <p:ph type="body" idx="1"/>
          </p:nvPr>
        </p:nvSpPr>
        <p:spPr>
          <a:xfrm>
            <a:off x="311700" y="749349"/>
            <a:ext cx="8520600" cy="1733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region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tỷ</a:t>
            </a:r>
            <a:r>
              <a:rPr dirty="0"/>
              <a:t> </a:t>
            </a:r>
            <a:r>
              <a:rPr dirty="0" err="1"/>
              <a:t>lệ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trễ</a:t>
            </a:r>
            <a:r>
              <a:rPr dirty="0"/>
              <a:t> </a:t>
            </a:r>
            <a:r>
              <a:rPr dirty="0" err="1"/>
              <a:t>cao</a:t>
            </a:r>
            <a:r>
              <a:rPr dirty="0"/>
              <a:t> </a:t>
            </a:r>
            <a:r>
              <a:rPr dirty="0" err="1"/>
              <a:t>hơn</a:t>
            </a:r>
            <a:r>
              <a:rPr dirty="0"/>
              <a:t> </a:t>
            </a:r>
            <a:r>
              <a:rPr dirty="0" err="1"/>
              <a:t>rõ</a:t>
            </a:r>
            <a:r>
              <a:rPr dirty="0"/>
              <a:t> </a:t>
            </a:r>
            <a:r>
              <a:rPr dirty="0" err="1"/>
              <a:t>rệt</a:t>
            </a:r>
            <a:endParaRPr dirty="0"/>
          </a:p>
          <a:p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thể</a:t>
            </a:r>
            <a:r>
              <a:rPr dirty="0"/>
              <a:t> </a:t>
            </a:r>
            <a:r>
              <a:rPr dirty="0" err="1"/>
              <a:t>liên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đến</a:t>
            </a:r>
            <a:r>
              <a:rPr dirty="0"/>
              <a:t> </a:t>
            </a:r>
            <a:r>
              <a:rPr dirty="0" err="1"/>
              <a:t>hạ</a:t>
            </a:r>
            <a:r>
              <a:rPr dirty="0"/>
              <a:t> </a:t>
            </a:r>
            <a:r>
              <a:rPr dirty="0" err="1"/>
              <a:t>tầng</a:t>
            </a:r>
            <a:r>
              <a:rPr dirty="0"/>
              <a:t>, </a:t>
            </a:r>
            <a:r>
              <a:rPr dirty="0" err="1"/>
              <a:t>khoảng</a:t>
            </a:r>
            <a:r>
              <a:rPr dirty="0"/>
              <a:t> </a:t>
            </a:r>
            <a:r>
              <a:rPr dirty="0" err="1"/>
              <a:t>cách</a:t>
            </a:r>
            <a:r>
              <a:rPr lang="vi-VN" dirty="0"/>
              <a:t> </a:t>
            </a:r>
            <a:r>
              <a:rPr dirty="0" err="1"/>
              <a:t>hoặc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vận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khu</a:t>
            </a:r>
            <a:r>
              <a:rPr dirty="0"/>
              <a:t> </a:t>
            </a:r>
            <a:r>
              <a:rPr dirty="0" err="1"/>
              <a:t>vực</a:t>
            </a:r>
            <a:endParaRPr dirty="0"/>
          </a:p>
        </p:txBody>
      </p:sp>
      <p:pic>
        <p:nvPicPr>
          <p:cNvPr id="102" name="Google Shape;102;p20" title="Ảnh màn hình 2026-03-18 lúc 12.56.22 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851" y="1814050"/>
            <a:ext cx="7919498" cy="332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264000" y="23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t>Kết hợp nhiều yếu tố</a:t>
            </a:r>
          </a:p>
        </p:txBody>
      </p:sp>
      <p:sp>
        <p:nvSpPr>
          <p:cNvPr id="108" name="Google Shape;108;p21"/>
          <p:cNvSpPr txBox="1">
            <a:spLocks noGrp="1"/>
          </p:cNvSpPr>
          <p:nvPr>
            <p:ph type="body" idx="1"/>
          </p:nvPr>
        </p:nvSpPr>
        <p:spPr>
          <a:xfrm>
            <a:off x="264000" y="1128706"/>
            <a:ext cx="297225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just"/>
            <a:r>
              <a:rPr sz="1600" dirty="0"/>
              <a:t>Delay </a:t>
            </a:r>
            <a:r>
              <a:rPr sz="1600" dirty="0" err="1"/>
              <a:t>không</a:t>
            </a:r>
            <a:r>
              <a:rPr sz="1600" dirty="0"/>
              <a:t> </a:t>
            </a:r>
            <a:r>
              <a:rPr sz="1600" dirty="0" err="1"/>
              <a:t>đến</a:t>
            </a:r>
            <a:r>
              <a:rPr sz="1600" dirty="0"/>
              <a:t> </a:t>
            </a:r>
            <a:r>
              <a:rPr sz="1600" dirty="0" err="1"/>
              <a:t>từ</a:t>
            </a:r>
            <a:r>
              <a:rPr sz="1600" dirty="0"/>
              <a:t> </a:t>
            </a:r>
            <a:r>
              <a:rPr sz="1600" dirty="0" err="1"/>
              <a:t>một</a:t>
            </a:r>
            <a:r>
              <a:rPr sz="1600" dirty="0"/>
              <a:t> </a:t>
            </a:r>
            <a:r>
              <a:rPr sz="1600" dirty="0" err="1"/>
              <a:t>yếu</a:t>
            </a:r>
            <a:r>
              <a:rPr sz="1600" dirty="0"/>
              <a:t> </a:t>
            </a:r>
            <a:r>
              <a:rPr sz="1600" dirty="0" err="1"/>
              <a:t>tố</a:t>
            </a:r>
            <a:r>
              <a:rPr sz="1600" dirty="0"/>
              <a:t> </a:t>
            </a:r>
            <a:r>
              <a:rPr sz="1600" dirty="0" err="1"/>
              <a:t>đơn</a:t>
            </a:r>
            <a:r>
              <a:rPr sz="1600" dirty="0"/>
              <a:t> </a:t>
            </a:r>
            <a:r>
              <a:rPr sz="1600" dirty="0" err="1"/>
              <a:t>lẻ</a:t>
            </a:r>
            <a:r>
              <a:rPr lang="vi-VN" sz="1600" dirty="0"/>
              <a:t>, </a:t>
            </a:r>
            <a:r>
              <a:rPr sz="1600" dirty="0"/>
              <a:t>Region </a:t>
            </a:r>
            <a:r>
              <a:rPr sz="1600" dirty="0" err="1"/>
              <a:t>và</a:t>
            </a:r>
            <a:r>
              <a:rPr sz="1600" dirty="0"/>
              <a:t> Shipping mode </a:t>
            </a:r>
            <a:r>
              <a:rPr sz="1600" dirty="0" err="1"/>
              <a:t>khi</a:t>
            </a:r>
            <a:r>
              <a:rPr sz="1600" dirty="0"/>
              <a:t> </a:t>
            </a:r>
            <a:r>
              <a:rPr sz="1600" dirty="0" err="1"/>
              <a:t>kết</a:t>
            </a:r>
            <a:r>
              <a:rPr sz="1600" dirty="0"/>
              <a:t> </a:t>
            </a:r>
            <a:r>
              <a:rPr sz="1600" dirty="0" err="1"/>
              <a:t>hợp</a:t>
            </a:r>
            <a:r>
              <a:rPr sz="1600" dirty="0"/>
              <a:t> </a:t>
            </a:r>
            <a:r>
              <a:rPr sz="1600" dirty="0" err="1"/>
              <a:t>với</a:t>
            </a:r>
            <a:r>
              <a:rPr sz="1600" dirty="0"/>
              <a:t> </a:t>
            </a:r>
            <a:r>
              <a:rPr sz="1600" dirty="0" err="1"/>
              <a:t>nhau</a:t>
            </a:r>
            <a:r>
              <a:rPr lang="vi-VN" sz="1600" dirty="0"/>
              <a:t> </a:t>
            </a:r>
            <a:r>
              <a:rPr sz="1600" dirty="0" err="1"/>
              <a:t>làm</a:t>
            </a:r>
            <a:r>
              <a:rPr sz="1600" dirty="0"/>
              <a:t> </a:t>
            </a:r>
            <a:r>
              <a:rPr sz="1600" dirty="0" err="1"/>
              <a:t>tăng</a:t>
            </a:r>
            <a:r>
              <a:rPr sz="1600" dirty="0"/>
              <a:t> </a:t>
            </a:r>
            <a:r>
              <a:rPr sz="1600" dirty="0" err="1"/>
              <a:t>rủi</a:t>
            </a:r>
            <a:r>
              <a:rPr sz="1600" dirty="0"/>
              <a:t> </a:t>
            </a:r>
            <a:r>
              <a:rPr sz="1600" dirty="0" err="1"/>
              <a:t>ro</a:t>
            </a:r>
            <a:r>
              <a:rPr sz="1600" dirty="0"/>
              <a:t> </a:t>
            </a:r>
            <a:r>
              <a:rPr sz="1600" dirty="0" err="1"/>
              <a:t>giao</a:t>
            </a:r>
            <a:r>
              <a:rPr sz="1600" dirty="0"/>
              <a:t> </a:t>
            </a:r>
            <a:r>
              <a:rPr sz="1600" dirty="0" err="1"/>
              <a:t>trễ</a:t>
            </a:r>
            <a:r>
              <a:rPr lang="vi-VN" sz="1600" dirty="0"/>
              <a:t>.</a:t>
            </a:r>
            <a:endParaRPr sz="1600" dirty="0"/>
          </a:p>
          <a:p>
            <a:pPr algn="just"/>
            <a:endParaRPr sz="1600" dirty="0"/>
          </a:p>
          <a:p>
            <a:pPr algn="just"/>
            <a:r>
              <a:rPr sz="1600" dirty="0" err="1"/>
              <a:t>Cần</a:t>
            </a:r>
            <a:r>
              <a:rPr sz="1600" dirty="0"/>
              <a:t> </a:t>
            </a:r>
            <a:r>
              <a:rPr sz="1600" dirty="0" err="1"/>
              <a:t>phân</a:t>
            </a:r>
            <a:r>
              <a:rPr sz="1600" dirty="0"/>
              <a:t> </a:t>
            </a:r>
            <a:r>
              <a:rPr sz="1600" dirty="0" err="1"/>
              <a:t>tích</a:t>
            </a:r>
            <a:r>
              <a:rPr sz="1600" dirty="0"/>
              <a:t> </a:t>
            </a:r>
            <a:r>
              <a:rPr sz="1600" dirty="0" err="1"/>
              <a:t>theo</a:t>
            </a:r>
            <a:r>
              <a:rPr sz="1600" dirty="0"/>
              <a:t> </a:t>
            </a:r>
            <a:r>
              <a:rPr sz="1600" dirty="0" err="1"/>
              <a:t>nhiều</a:t>
            </a:r>
            <a:r>
              <a:rPr sz="1600" dirty="0"/>
              <a:t> </a:t>
            </a:r>
            <a:r>
              <a:rPr sz="1600" dirty="0" err="1"/>
              <a:t>chiều</a:t>
            </a:r>
            <a:r>
              <a:rPr sz="1600" dirty="0"/>
              <a:t> </a:t>
            </a:r>
            <a:r>
              <a:rPr sz="1600" dirty="0" err="1"/>
              <a:t>để</a:t>
            </a:r>
            <a:r>
              <a:rPr sz="1600" dirty="0"/>
              <a:t> </a:t>
            </a:r>
            <a:r>
              <a:rPr sz="1600" dirty="0" err="1"/>
              <a:t>ra</a:t>
            </a:r>
            <a:r>
              <a:rPr sz="1600" dirty="0"/>
              <a:t> </a:t>
            </a:r>
            <a:r>
              <a:rPr sz="1600" dirty="0" err="1"/>
              <a:t>quyết</a:t>
            </a:r>
            <a:r>
              <a:rPr sz="1600" dirty="0"/>
              <a:t> </a:t>
            </a:r>
            <a:r>
              <a:rPr sz="1600" dirty="0" err="1"/>
              <a:t>định</a:t>
            </a:r>
            <a:r>
              <a:rPr sz="1600" dirty="0"/>
              <a:t> </a:t>
            </a:r>
            <a:r>
              <a:rPr sz="1600" dirty="0" err="1"/>
              <a:t>tốt</a:t>
            </a:r>
            <a:r>
              <a:rPr sz="1600" dirty="0"/>
              <a:t> </a:t>
            </a:r>
            <a:r>
              <a:rPr sz="1600" dirty="0" err="1"/>
              <a:t>hơn</a:t>
            </a:r>
            <a:r>
              <a:rPr lang="vi-VN" sz="1600" dirty="0"/>
              <a:t>.</a:t>
            </a:r>
            <a:endParaRPr sz="1600" dirty="0"/>
          </a:p>
        </p:txBody>
      </p:sp>
      <p:pic>
        <p:nvPicPr>
          <p:cNvPr id="109" name="Google Shape;109;p21" title="Ảnh màn hình 2026-03-18 lúc 12.58.14 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258" y="731075"/>
            <a:ext cx="5907741" cy="3814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lang="vi-VN" dirty="0"/>
              <a:t>Khuyến nghị</a:t>
            </a:r>
            <a:r>
              <a:rPr dirty="0"/>
              <a:t>:</a:t>
            </a:r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sz="1600" dirty="0" err="1"/>
              <a:t>Kết</a:t>
            </a:r>
            <a:r>
              <a:rPr sz="1600" dirty="0"/>
              <a:t> </a:t>
            </a:r>
            <a:r>
              <a:rPr sz="1600" dirty="0" err="1"/>
              <a:t>luận</a:t>
            </a:r>
            <a:r>
              <a:rPr sz="1600" dirty="0"/>
              <a:t>:</a:t>
            </a:r>
          </a:p>
          <a:p>
            <a:pPr marL="571500" lvl="1" indent="0">
              <a:buNone/>
            </a:pPr>
            <a:r>
              <a:rPr sz="1200" dirty="0"/>
              <a:t>- Giao </a:t>
            </a:r>
            <a:r>
              <a:rPr sz="1200" dirty="0" err="1"/>
              <a:t>hàng</a:t>
            </a:r>
            <a:r>
              <a:rPr sz="1200" dirty="0"/>
              <a:t> </a:t>
            </a:r>
            <a:r>
              <a:rPr sz="1200" dirty="0" err="1"/>
              <a:t>trễ</a:t>
            </a:r>
            <a:r>
              <a:rPr sz="1200" dirty="0"/>
              <a:t> </a:t>
            </a:r>
            <a:r>
              <a:rPr sz="1200" dirty="0" err="1"/>
              <a:t>là</a:t>
            </a:r>
            <a:r>
              <a:rPr sz="1200" dirty="0"/>
              <a:t> </a:t>
            </a:r>
            <a:r>
              <a:rPr sz="1200" dirty="0" err="1"/>
              <a:t>vấn</a:t>
            </a:r>
            <a:r>
              <a:rPr sz="1200" dirty="0"/>
              <a:t> </a:t>
            </a:r>
            <a:r>
              <a:rPr sz="1200" dirty="0" err="1"/>
              <a:t>đề</a:t>
            </a:r>
            <a:r>
              <a:rPr sz="1200" dirty="0"/>
              <a:t> </a:t>
            </a:r>
            <a:r>
              <a:rPr sz="1200" dirty="0" err="1"/>
              <a:t>mang</a:t>
            </a:r>
            <a:r>
              <a:rPr sz="1200" dirty="0"/>
              <a:t> </a:t>
            </a:r>
            <a:r>
              <a:rPr sz="1200" dirty="0" err="1"/>
              <a:t>tính</a:t>
            </a:r>
            <a:r>
              <a:rPr sz="1200" dirty="0"/>
              <a:t> </a:t>
            </a:r>
            <a:r>
              <a:rPr sz="1200" dirty="0" err="1"/>
              <a:t>hệ</a:t>
            </a:r>
            <a:r>
              <a:rPr sz="1200" dirty="0"/>
              <a:t> </a:t>
            </a:r>
            <a:r>
              <a:rPr sz="1200" dirty="0" err="1"/>
              <a:t>thống</a:t>
            </a:r>
            <a:endParaRPr sz="1200" dirty="0"/>
          </a:p>
          <a:p>
            <a:pPr marL="571500" lvl="1" indent="0">
              <a:buNone/>
            </a:pPr>
            <a:r>
              <a:rPr sz="1200" dirty="0"/>
              <a:t>- </a:t>
            </a:r>
            <a:r>
              <a:rPr sz="1200" dirty="0" err="1"/>
              <a:t>Bị</a:t>
            </a:r>
            <a:r>
              <a:rPr sz="1200" dirty="0"/>
              <a:t> </a:t>
            </a:r>
            <a:r>
              <a:rPr sz="1200" dirty="0" err="1"/>
              <a:t>tác</a:t>
            </a:r>
            <a:r>
              <a:rPr sz="1200" dirty="0"/>
              <a:t> </a:t>
            </a:r>
            <a:r>
              <a:rPr sz="1200" dirty="0" err="1"/>
              <a:t>động</a:t>
            </a:r>
            <a:r>
              <a:rPr sz="1200" dirty="0"/>
              <a:t> </a:t>
            </a:r>
            <a:r>
              <a:rPr sz="1200" dirty="0" err="1"/>
              <a:t>bởi</a:t>
            </a:r>
            <a:r>
              <a:rPr sz="1200" dirty="0"/>
              <a:t> </a:t>
            </a:r>
            <a:r>
              <a:rPr sz="1200" dirty="0" err="1"/>
              <a:t>nhiều</a:t>
            </a:r>
            <a:r>
              <a:rPr sz="1200" dirty="0"/>
              <a:t> </a:t>
            </a:r>
            <a:r>
              <a:rPr sz="1200" dirty="0" err="1"/>
              <a:t>yếu</a:t>
            </a:r>
            <a:r>
              <a:rPr sz="1200" dirty="0"/>
              <a:t> </a:t>
            </a:r>
            <a:r>
              <a:rPr sz="1200" dirty="0" err="1"/>
              <a:t>tố</a:t>
            </a:r>
            <a:r>
              <a:rPr sz="1200" dirty="0"/>
              <a:t> </a:t>
            </a:r>
            <a:r>
              <a:rPr sz="1200" dirty="0" err="1"/>
              <a:t>kết</a:t>
            </a:r>
            <a:r>
              <a:rPr sz="1200" dirty="0"/>
              <a:t> </a:t>
            </a:r>
            <a:r>
              <a:rPr sz="1200" dirty="0" err="1"/>
              <a:t>hợp</a:t>
            </a:r>
            <a:endParaRPr sz="1200" dirty="0"/>
          </a:p>
          <a:p>
            <a:pPr marL="571500" lvl="1" indent="0">
              <a:buNone/>
            </a:pPr>
            <a:r>
              <a:rPr sz="1200" dirty="0"/>
              <a:t>- </a:t>
            </a:r>
            <a:r>
              <a:rPr sz="1200" dirty="0" err="1"/>
              <a:t>Không</a:t>
            </a:r>
            <a:r>
              <a:rPr sz="1200" dirty="0"/>
              <a:t> </a:t>
            </a:r>
            <a:r>
              <a:rPr sz="1200" dirty="0" err="1"/>
              <a:t>phải</a:t>
            </a:r>
            <a:r>
              <a:rPr sz="1200" dirty="0"/>
              <a:t> </a:t>
            </a:r>
            <a:r>
              <a:rPr sz="1200" dirty="0" err="1"/>
              <a:t>là</a:t>
            </a:r>
            <a:r>
              <a:rPr sz="1200" dirty="0"/>
              <a:t> </a:t>
            </a:r>
            <a:r>
              <a:rPr sz="1200" dirty="0" err="1"/>
              <a:t>hiện</a:t>
            </a:r>
            <a:r>
              <a:rPr sz="1200" dirty="0"/>
              <a:t> </a:t>
            </a:r>
            <a:r>
              <a:rPr sz="1200" dirty="0" err="1"/>
              <a:t>tượng</a:t>
            </a:r>
            <a:r>
              <a:rPr sz="1200" dirty="0"/>
              <a:t> </a:t>
            </a:r>
            <a:r>
              <a:rPr sz="1200" dirty="0" err="1"/>
              <a:t>ngẫu</a:t>
            </a:r>
            <a:r>
              <a:rPr sz="1200" dirty="0"/>
              <a:t> </a:t>
            </a:r>
            <a:r>
              <a:rPr sz="1200" dirty="0" err="1"/>
              <a:t>nhiên</a:t>
            </a:r>
            <a:endParaRPr sz="1200" dirty="0"/>
          </a:p>
          <a:p>
            <a:endParaRPr sz="1600" dirty="0"/>
          </a:p>
          <a:p>
            <a:r>
              <a:rPr lang="vi-VN" sz="1600" dirty="0"/>
              <a:t>Khuyến nghị</a:t>
            </a:r>
            <a:r>
              <a:rPr sz="1600" dirty="0"/>
              <a:t>:</a:t>
            </a:r>
          </a:p>
          <a:p>
            <a:pPr marL="571500" lvl="1" indent="0">
              <a:buNone/>
            </a:pPr>
            <a:r>
              <a:rPr sz="1200" dirty="0"/>
              <a:t>- </a:t>
            </a:r>
            <a:r>
              <a:rPr sz="1200" dirty="0" err="1"/>
              <a:t>Tối</a:t>
            </a:r>
            <a:r>
              <a:rPr sz="1200" dirty="0"/>
              <a:t> </a:t>
            </a:r>
            <a:r>
              <a:rPr sz="1200" dirty="0" err="1"/>
              <a:t>ưu</a:t>
            </a:r>
            <a:r>
              <a:rPr sz="1200" dirty="0"/>
              <a:t> </a:t>
            </a:r>
            <a:r>
              <a:rPr sz="1200" dirty="0" err="1"/>
              <a:t>các</a:t>
            </a:r>
            <a:r>
              <a:rPr sz="1200" dirty="0"/>
              <a:t> shipping mode </a:t>
            </a:r>
            <a:r>
              <a:rPr sz="1200" dirty="0" err="1"/>
              <a:t>rủi</a:t>
            </a:r>
            <a:r>
              <a:rPr sz="1200" dirty="0"/>
              <a:t> </a:t>
            </a:r>
            <a:r>
              <a:rPr sz="1200" dirty="0" err="1"/>
              <a:t>ro</a:t>
            </a:r>
            <a:r>
              <a:rPr sz="1200" dirty="0"/>
              <a:t> </a:t>
            </a:r>
            <a:r>
              <a:rPr sz="1200" dirty="0" err="1"/>
              <a:t>cao</a:t>
            </a:r>
            <a:r>
              <a:rPr sz="1200" dirty="0"/>
              <a:t> </a:t>
            </a:r>
            <a:r>
              <a:rPr sz="1200" dirty="0" err="1"/>
              <a:t>như</a:t>
            </a:r>
            <a:r>
              <a:rPr sz="1200" dirty="0"/>
              <a:t> Second Class</a:t>
            </a:r>
          </a:p>
          <a:p>
            <a:pPr marL="571500" lvl="1" indent="0">
              <a:buNone/>
            </a:pPr>
            <a:r>
              <a:rPr sz="1200" dirty="0"/>
              <a:t>- </a:t>
            </a:r>
            <a:r>
              <a:rPr sz="1200" dirty="0" err="1"/>
              <a:t>Tập</a:t>
            </a:r>
            <a:r>
              <a:rPr sz="1200" dirty="0"/>
              <a:t> </a:t>
            </a:r>
            <a:r>
              <a:rPr sz="1200" dirty="0" err="1"/>
              <a:t>trung</a:t>
            </a:r>
            <a:r>
              <a:rPr sz="1200" dirty="0"/>
              <a:t> </a:t>
            </a:r>
            <a:r>
              <a:rPr sz="1200" dirty="0" err="1"/>
              <a:t>cải</a:t>
            </a:r>
            <a:r>
              <a:rPr sz="1200" dirty="0"/>
              <a:t> </a:t>
            </a:r>
            <a:r>
              <a:rPr sz="1200" dirty="0" err="1"/>
              <a:t>thiện</a:t>
            </a:r>
            <a:r>
              <a:rPr sz="1200" dirty="0"/>
              <a:t> </a:t>
            </a:r>
            <a:r>
              <a:rPr sz="1200" dirty="0" err="1"/>
              <a:t>các</a:t>
            </a:r>
            <a:r>
              <a:rPr sz="1200" dirty="0"/>
              <a:t> region </a:t>
            </a:r>
            <a:r>
              <a:rPr sz="1200" dirty="0" err="1"/>
              <a:t>có</a:t>
            </a:r>
            <a:r>
              <a:rPr sz="1200" dirty="0"/>
              <a:t> delay </a:t>
            </a:r>
            <a:r>
              <a:rPr sz="1200" dirty="0" err="1"/>
              <a:t>cao</a:t>
            </a:r>
            <a:endParaRPr sz="1200" dirty="0"/>
          </a:p>
          <a:p>
            <a:pPr marL="571500" lvl="1" indent="0">
              <a:buNone/>
            </a:pPr>
            <a:r>
              <a:rPr sz="1200" dirty="0"/>
              <a:t>- </a:t>
            </a:r>
            <a:r>
              <a:rPr sz="1200" dirty="0" err="1"/>
              <a:t>Nâng</a:t>
            </a:r>
            <a:r>
              <a:rPr sz="1200" dirty="0"/>
              <a:t> </a:t>
            </a:r>
            <a:r>
              <a:rPr sz="1200" dirty="0" err="1"/>
              <a:t>độ</a:t>
            </a:r>
            <a:r>
              <a:rPr sz="1200" dirty="0"/>
              <a:t> </a:t>
            </a:r>
            <a:r>
              <a:rPr sz="1200" dirty="0" err="1"/>
              <a:t>chính</a:t>
            </a:r>
            <a:r>
              <a:rPr sz="1200" dirty="0"/>
              <a:t> </a:t>
            </a:r>
            <a:r>
              <a:rPr sz="1200" dirty="0" err="1"/>
              <a:t>xác</a:t>
            </a:r>
            <a:r>
              <a:rPr sz="1200" dirty="0"/>
              <a:t> </a:t>
            </a:r>
            <a:r>
              <a:rPr sz="1200" dirty="0" err="1"/>
              <a:t>của</a:t>
            </a:r>
            <a:r>
              <a:rPr sz="1200" dirty="0"/>
              <a:t> scheduling</a:t>
            </a:r>
          </a:p>
          <a:p>
            <a:pPr marL="571500" lvl="1" indent="0">
              <a:buNone/>
            </a:pPr>
            <a:r>
              <a:rPr sz="1200" dirty="0"/>
              <a:t>- </a:t>
            </a:r>
            <a:r>
              <a:rPr sz="1200" dirty="0" err="1"/>
              <a:t>Xây</a:t>
            </a:r>
            <a:r>
              <a:rPr sz="1200" dirty="0"/>
              <a:t> </a:t>
            </a:r>
            <a:r>
              <a:rPr sz="1200" dirty="0" err="1"/>
              <a:t>chiến</a:t>
            </a:r>
            <a:r>
              <a:rPr sz="1200" dirty="0"/>
              <a:t> </a:t>
            </a:r>
            <a:r>
              <a:rPr sz="1200" dirty="0" err="1"/>
              <a:t>lược</a:t>
            </a:r>
            <a:r>
              <a:rPr sz="1200" dirty="0"/>
              <a:t> </a:t>
            </a:r>
            <a:r>
              <a:rPr sz="1200" dirty="0" err="1"/>
              <a:t>riêng</a:t>
            </a:r>
            <a:r>
              <a:rPr sz="1200" dirty="0"/>
              <a:t> </a:t>
            </a:r>
            <a:r>
              <a:rPr sz="1200" dirty="0" err="1"/>
              <a:t>theo</a:t>
            </a:r>
            <a:r>
              <a:rPr sz="1200" dirty="0"/>
              <a:t> category</a:t>
            </a:r>
          </a:p>
          <a:p>
            <a:endParaRPr sz="1600" dirty="0"/>
          </a:p>
          <a:p>
            <a:pPr marL="114300" indent="0">
              <a:buNone/>
            </a:pPr>
            <a:r>
              <a:rPr sz="1600" dirty="0"/>
              <a:t>→ </a:t>
            </a:r>
            <a:r>
              <a:rPr sz="1600" dirty="0" err="1"/>
              <a:t>Quyết</a:t>
            </a:r>
            <a:r>
              <a:rPr sz="1600" dirty="0"/>
              <a:t> </a:t>
            </a:r>
            <a:r>
              <a:rPr sz="1600" dirty="0" err="1"/>
              <a:t>định</a:t>
            </a:r>
            <a:r>
              <a:rPr sz="1600" dirty="0"/>
              <a:t> </a:t>
            </a:r>
            <a:r>
              <a:rPr sz="1600" dirty="0" err="1"/>
              <a:t>dựa</a:t>
            </a:r>
            <a:r>
              <a:rPr sz="1600" dirty="0"/>
              <a:t> </a:t>
            </a:r>
            <a:r>
              <a:rPr sz="1600" dirty="0" err="1"/>
              <a:t>trên</a:t>
            </a:r>
            <a:r>
              <a:rPr sz="1600" dirty="0"/>
              <a:t> </a:t>
            </a:r>
            <a:r>
              <a:rPr sz="1600" dirty="0" err="1"/>
              <a:t>dữ</a:t>
            </a:r>
            <a:r>
              <a:rPr sz="1600" dirty="0"/>
              <a:t> </a:t>
            </a:r>
            <a:r>
              <a:rPr sz="1600" dirty="0" err="1"/>
              <a:t>liệu</a:t>
            </a:r>
            <a:r>
              <a:rPr sz="1600" dirty="0"/>
              <a:t> </a:t>
            </a:r>
            <a:r>
              <a:rPr sz="1600" dirty="0" err="1"/>
              <a:t>có</a:t>
            </a:r>
            <a:r>
              <a:rPr sz="1600" dirty="0"/>
              <a:t> </a:t>
            </a:r>
            <a:r>
              <a:rPr sz="1600" dirty="0" err="1"/>
              <a:t>thể</a:t>
            </a:r>
            <a:r>
              <a:rPr sz="1600" dirty="0"/>
              <a:t> </a:t>
            </a:r>
            <a:r>
              <a:rPr sz="1600" dirty="0" err="1"/>
              <a:t>giúp</a:t>
            </a:r>
            <a:r>
              <a:rPr sz="1600" dirty="0"/>
              <a:t> </a:t>
            </a:r>
            <a:r>
              <a:rPr sz="1600" dirty="0" err="1"/>
              <a:t>giảm</a:t>
            </a:r>
            <a:r>
              <a:rPr sz="1600" dirty="0"/>
              <a:t> delay </a:t>
            </a:r>
            <a:r>
              <a:rPr sz="1600" dirty="0" err="1"/>
              <a:t>đáng</a:t>
            </a:r>
            <a:r>
              <a:rPr sz="1600" dirty="0"/>
              <a:t> </a:t>
            </a:r>
            <a:r>
              <a:rPr sz="1600" dirty="0" err="1"/>
              <a:t>kể</a:t>
            </a:r>
            <a:r>
              <a:rPr lang="vi-VN" sz="1600" dirty="0"/>
              <a:t>.</a:t>
            </a:r>
            <a:endParaRPr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424</Words>
  <Application>Microsoft Macintosh PowerPoint</Application>
  <PresentationFormat>On-screen Show (16:9)</PresentationFormat>
  <Paragraphs>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Alfa Slab One</vt:lpstr>
      <vt:lpstr>Arial</vt:lpstr>
      <vt:lpstr>Proxima Nova</vt:lpstr>
      <vt:lpstr>Times New Roman</vt:lpstr>
      <vt:lpstr>Wingdings</vt:lpstr>
      <vt:lpstr>Gameday</vt:lpstr>
      <vt:lpstr>Shipping Delay Analysis in Logistics</vt:lpstr>
      <vt:lpstr>Vấn đề:</vt:lpstr>
      <vt:lpstr>Mục tiêu:</vt:lpstr>
      <vt:lpstr>Dataset:</vt:lpstr>
      <vt:lpstr>Phương pháp:</vt:lpstr>
      <vt:lpstr>Tỷ lệ giao trễ cao</vt:lpstr>
      <vt:lpstr>Ảnh hưởng của shipping mode</vt:lpstr>
      <vt:lpstr>Khác biệt theo khu vực</vt:lpstr>
      <vt:lpstr>Kết hợp nhiều yếu tố</vt:lpstr>
      <vt:lpstr>Kết luận và Khuyến nghị: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 Tien</cp:lastModifiedBy>
  <cp:revision>2</cp:revision>
  <dcterms:modified xsi:type="dcterms:W3CDTF">2026-03-24T11:02:00Z</dcterms:modified>
</cp:coreProperties>
</file>