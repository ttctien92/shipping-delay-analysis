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  <p:embeddedFont>
      <p:font typeface="Alfa Slab One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faSlabOn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7956a1cd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7956a1cd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7956a1cd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7956a1cd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7956a1cd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7956a1cd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7956a1cd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7956a1cd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7956a1cd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7956a1cd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7956a1cd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7956a1cd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7956a1cd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7956a1cd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7956a1cd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7956a1cd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7956a1cd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7956a1cd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4100"/>
              <a:t>Shipping Delay Analysis in Logistics</a:t>
            </a:r>
            <a:endParaRPr sz="40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vi" sz="5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Tran Thi Cam Tien</a:t>
            </a:r>
            <a:endParaRPr sz="5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vi" sz="5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Course: Data Analyst Graduation Project</a:t>
            </a:r>
            <a:endParaRPr sz="5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vi" sz="5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Dataset: DataCo Supply Chain</a:t>
            </a:r>
            <a:endParaRPr sz="5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800"/>
              <a:t>Vấn đề:</a:t>
            </a:r>
            <a:endParaRPr sz="18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91225" y="1311500"/>
            <a:ext cx="4944000" cy="20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 sz="1400">
                <a:solidFill>
                  <a:schemeClr val="dk1"/>
                </a:solidFill>
              </a:rPr>
              <a:t>Giao hàng đúng hạn rất quan trọng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 sz="1400">
                <a:solidFill>
                  <a:schemeClr val="dk1"/>
                </a:solidFill>
              </a:rPr>
              <a:t>Giao trễ ảnh hưởng: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vi">
                <a:solidFill>
                  <a:schemeClr val="dk1"/>
                </a:solidFill>
              </a:rPr>
              <a:t>Khách hàng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vi">
                <a:solidFill>
                  <a:schemeClr val="dk1"/>
                </a:solidFill>
              </a:rPr>
              <a:t>Chi phí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vi">
                <a:solidFill>
                  <a:schemeClr val="dk1"/>
                </a:solidFill>
              </a:rPr>
              <a:t>Hiệu quả vận hành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794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800"/>
              <a:t>Mục tiêu:</a:t>
            </a:r>
            <a:endParaRPr sz="1800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13475" y="1367575"/>
            <a:ext cx="4532400" cy="22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 sz="1400">
                <a:solidFill>
                  <a:schemeClr val="dk1"/>
                </a:solidFill>
              </a:rPr>
              <a:t>Tính tỷ lệ giao hàng trễ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 sz="1400">
                <a:solidFill>
                  <a:schemeClr val="dk1"/>
                </a:solidFill>
              </a:rPr>
              <a:t>Tìm yếu tố ảnh hưởng: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vi">
                <a:solidFill>
                  <a:schemeClr val="dk1"/>
                </a:solidFill>
              </a:rPr>
              <a:t>Shipping mode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vi">
                <a:solidFill>
                  <a:schemeClr val="dk1"/>
                </a:solidFill>
              </a:rPr>
              <a:t>Region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vi">
                <a:solidFill>
                  <a:schemeClr val="dk1"/>
                </a:solidFill>
              </a:rPr>
              <a:t>Category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 sz="1400">
                <a:solidFill>
                  <a:schemeClr val="dk1"/>
                </a:solidFill>
              </a:rPr>
              <a:t>So sánh planned vs actual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 sz="1400">
                <a:solidFill>
                  <a:schemeClr val="dk1"/>
                </a:solidFill>
              </a:rPr>
              <a:t>Đưa ra giải pháp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800"/>
              <a:t>Dataset:</a:t>
            </a:r>
            <a:endParaRPr sz="180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 sz="1400">
                <a:solidFill>
                  <a:schemeClr val="dk1"/>
                </a:solidFill>
              </a:rPr>
              <a:t>Kaggle – DataCo Supply Chain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 sz="1400">
                <a:solidFill>
                  <a:schemeClr val="dk1"/>
                </a:solidFill>
              </a:rPr>
              <a:t>~180,000 dòng, hơn 50 cột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 sz="1400">
                <a:solidFill>
                  <a:schemeClr val="dk1"/>
                </a:solidFill>
              </a:rPr>
              <a:t>Dữ liệu về đơn hàng &amp; vận chuyển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800"/>
              <a:t>Phương pháp:</a:t>
            </a:r>
            <a:endParaRPr sz="1800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 sz="1400">
                <a:solidFill>
                  <a:schemeClr val="dk1"/>
                </a:solidFill>
              </a:rPr>
              <a:t>Data cleaning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 sz="1400">
                <a:solidFill>
                  <a:schemeClr val="dk1"/>
                </a:solidFill>
              </a:rPr>
              <a:t>Tạo biến: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vi">
                <a:solidFill>
                  <a:schemeClr val="dk1"/>
                </a:solidFill>
              </a:rPr>
              <a:t>shipping_delay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vi">
                <a:solidFill>
                  <a:schemeClr val="dk1"/>
                </a:solidFill>
              </a:rPr>
              <a:t>is_late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 sz="1400">
                <a:solidFill>
                  <a:schemeClr val="dk1"/>
                </a:solidFill>
              </a:rPr>
              <a:t>EDA + phân tích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Tỷ lệ giao trễ cao</a:t>
            </a:r>
            <a:endParaRPr/>
          </a:p>
        </p:txBody>
      </p:sp>
      <p:pic>
        <p:nvPicPr>
          <p:cNvPr id="87" name="Google Shape;87;p18" title="Ảnh màn hình 2026-03-18 lúc 12.48.16 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475" y="1312063"/>
            <a:ext cx="4904526" cy="331987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437350" y="1017725"/>
            <a:ext cx="20436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Late delivery rate: ~57%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800"/>
              <a:t>Ảnh hưởng của shipping mode</a:t>
            </a:r>
            <a:endParaRPr sz="1800"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400">
                <a:solidFill>
                  <a:schemeClr val="dk1"/>
                </a:solidFill>
              </a:rPr>
              <a:t>Second Class trễ nhiều nhất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 title="Ảnh màn hình 2026-03-18 lúc 12.51.28 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6550" y="1314275"/>
            <a:ext cx="4072775" cy="355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13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800"/>
              <a:t>Khác biệt theo khu vực</a:t>
            </a:r>
            <a:endParaRPr sz="1800"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704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400">
                <a:solidFill>
                  <a:schemeClr val="dk1"/>
                </a:solidFill>
              </a:rPr>
              <a:t>Một số region trễ nhiều hơn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 title="Ảnh màn hình 2026-03-18 lúc 12.56.22 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750" y="1449226"/>
            <a:ext cx="7919498" cy="332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264000" y="238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800"/>
              <a:t>Kết hợp nhiều yếu tố</a:t>
            </a:r>
            <a:endParaRPr sz="1800"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264000" y="731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400">
                <a:solidFill>
                  <a:schemeClr val="dk1"/>
                </a:solidFill>
              </a:rPr>
              <a:t>Region + Shipping mode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 title="Ảnh màn hình 2026-03-18 lúc 12.58.14 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3850" y="1126025"/>
            <a:ext cx="6824000" cy="386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800"/>
              <a:t>Kết luận và Recommendations:</a:t>
            </a:r>
            <a:endParaRPr sz="1800"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vi" sz="14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rPr>
              <a:t>Kết luận: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vi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Giao hàng trễ là vấn đề hệ thống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vi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nhiều yếu tố kết hợp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vi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 thể cải thiện bằng tối ưu vận hành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vi" sz="14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rPr>
              <a:t>R</a:t>
            </a:r>
            <a:r>
              <a:rPr b="1" lang="vi" sz="14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rPr>
              <a:t>ecommendations: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 sz="1400">
                <a:solidFill>
                  <a:schemeClr val="dk1"/>
                </a:solidFill>
              </a:rPr>
              <a:t>Cải thiện Second Class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 sz="1400">
                <a:solidFill>
                  <a:schemeClr val="dk1"/>
                </a:solidFill>
              </a:rPr>
              <a:t>Tập trung region có delay cao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 sz="1400">
                <a:solidFill>
                  <a:schemeClr val="dk1"/>
                </a:solidFill>
              </a:rPr>
              <a:t>Tối ưu scheduling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 sz="1400">
                <a:solidFill>
                  <a:schemeClr val="dk1"/>
                </a:solidFill>
              </a:rPr>
              <a:t>Chiến lược theo category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